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Видите (10%)</c:v>
                </c:pt>
                <c:pt idx="1">
                  <c:v>Скрыто (90%)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в день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Было (Profi)</c:v>
                </c:pt>
                <c:pt idx="1">
                  <c:v>Стало (Leads)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◈  Leads.Konversus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132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Все заказы с Profi — только ваши,
только квалифицированные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0D9488"/>
                </a:solidFill>
                <a:latin typeface="Calibri"/>
              </a:rPr>
              <a:t>ВЫ ВЫБИРАЕТЕ ЗАДАЧУ И КЛИЕНТА, ЗА КОТОРОГО ПЛАТИТЕ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25+ реальных клиентов в день,
которым можно продать и заработать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280160"/>
            <a:ext cx="38404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417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Telegram · заявка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0F1C2E"/>
                </a:solidFill>
                <a:latin typeface="Calibri"/>
              </a:rPr>
              <a:t>══ PROFI.RU ══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F1C2E"/>
                </a:solidFill>
                <a:latin typeface="Calibri"/>
              </a:rPr>
              <a:t>Создание сайта на Тильде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F766E"/>
                </a:solidFill>
                <a:latin typeface="Calibri"/>
              </a:rPr>
              <a:t>💰 до 40 000 ₽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📍 Москва · ⭐ 12 отз.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Клиент изучает цены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EA580C"/>
                </a:solidFill>
                <a:latin typeface="Calibri"/>
              </a:rPr>
              <a:t>[ Открыть заказ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Презентация для Zoom  ·  leads.konversus.ru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Кому мы даём поток заказов — строителям и ремонтникам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Вариант 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577840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Частные мастера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•  Сантехники, электрики, плиточники, штукатуры, маляры…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•  Заказы строго по специализации — без мусора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577840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09728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Бригады и подрядчики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•  От 2–3 человек до крупных команд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•  Поток объектов; фильтр: жилой/коммерция, бюджет, сроки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1143000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Кто ищет на Profi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475569"/>
                </a:solidFill>
                <a:latin typeface="Calibri"/>
              </a:rPr>
              <a:t>Ремонт квартир и домов · отделка · строительство · сантехника · электрика · фасады · ландшафт и т.д.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Кому мы даём поток клиентов — юристам и бухгалтерам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Вариант 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577840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Частные практики (ИП, самозанятые)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•  Консультации, договоры, декларации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•  Только под вашу специализацию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577840" cy="2194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09728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Юр. и бухгалтерские фирмы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•  Поток корпоративных клиентов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•  Фильтр: бюджет, услуга, срочность, рейтинг заказчика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1143000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Кто ищет на Profi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475569"/>
                </a:solidFill>
                <a:latin typeface="Calibri"/>
              </a:rPr>
              <a:t>Юридические консультации · бухобслуживание · аудит · налоги · регистрация ООО · суд и т.д.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Что вы теряете на Profi каждый день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 b="0">
                <a:solidFill>
                  <a:srgbClr val="0F1C2E"/>
                </a:solidFill>
                <a:latin typeface="Calibri"/>
              </a:rPr>
              <a:t>▸  Profi показывает 2–3 заявки в день — искусственное ограничение алгоритма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C2E"/>
                </a:solidFill>
                <a:latin typeface="Calibri"/>
              </a:rPr>
              <a:t>▸  Остальные ~90% заказов вы не видите — конкуренты успевают раньше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C2E"/>
                </a:solidFill>
                <a:latin typeface="Calibri"/>
              </a:rPr>
              <a:t>▸  Без фильтрации: низкий бюджет, не ваш тип работ, боты, «холодные» клиенты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389120" cy="18288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023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Вы видите лишь</a:t>
            </a:r>
          </a:p>
          <a:p>
            <a:pPr algn="ctr">
              <a:spcBef>
                <a:spcPts val="400"/>
              </a:spcBef>
            </a:pPr>
            <a:r>
              <a:rPr sz="4800" b="1">
                <a:solidFill>
                  <a:srgbClr val="EA580C"/>
                </a:solidFill>
                <a:latin typeface="Calibri"/>
              </a:rPr>
              <a:t>10%</a:t>
            </a:r>
          </a:p>
          <a:p>
            <a:pPr algn="ctr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от всех заказов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0" y="3474720"/>
          <a:ext cx="4389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Мы даём вам все заказы — и только те, что подходят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Leads.Konversus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1737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Calibri"/>
              </a:rPr>
              <a:t>20–25+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заявок в день, а не 2–3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743200" cy="1737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55448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Calibri"/>
              </a:rPr>
              <a:t>15+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параметров фильтрации под ваш бизнес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743200" cy="1737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Calibri"/>
              </a:rPr>
              <a:t>сек.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доставка в Telegram — вы первыми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371600"/>
            <a:ext cx="2743200" cy="1737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55448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Calibri"/>
              </a:rPr>
              <a:t>100–400 ₽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475569"/>
                </a:solidFill>
                <a:latin typeface="Calibri"/>
              </a:rPr>
              <a:t>цена квалифицированной заявки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377440" cy="16459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Profi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E2E8F0"/>
                </a:solidFill>
                <a:latin typeface="Calibri"/>
              </a:rPr>
              <a:t>Лента заказов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60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A580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657600"/>
            <a:ext cx="237744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9319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Сервис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E2E8F0"/>
                </a:solidFill>
                <a:latin typeface="Calibri"/>
              </a:rPr>
              <a:t>Сбор + защита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4160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A580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2377440" cy="16459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39319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Фильтры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E2E8F0"/>
                </a:solidFill>
                <a:latin typeface="Calibri"/>
              </a:rPr>
              <a:t>15+ правил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160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A580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657600"/>
            <a:ext cx="237744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393192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Telegram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E2E8F0"/>
                </a:solidFill>
                <a:latin typeface="Calibri"/>
              </a:rPr>
              <a:t>Карточка вам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Никаких сложных настроек — мы всё сделаем за вас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700" b="0">
                <a:solidFill>
                  <a:srgbClr val="0F1C2E"/>
                </a:solidFill>
                <a:latin typeface="Calibri"/>
              </a:rPr>
              <a:t>✓  Анализируем ваш профиль и типичные заказы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0F1C2E"/>
                </a:solidFill>
                <a:latin typeface="Calibri"/>
              </a:rPr>
              <a:t>✓  Бюджет, география, виды работ — под вас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0F1C2E"/>
                </a:solidFill>
                <a:latin typeface="Calibri"/>
              </a:rPr>
              <a:t>✓  Ключевые слова, рейтинг, тип объекта, сроки…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0F1C2E"/>
                </a:solidFill>
                <a:latin typeface="Calibri"/>
              </a:rPr>
              <a:t>✓  Вы просто получаете поток в 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9377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1371600"/>
            <a:ext cx="49377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447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Пример карточки после фильтров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0116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300" b="1">
                <a:solidFill>
                  <a:srgbClr val="475569"/>
                </a:solidFill>
                <a:latin typeface="Calibri"/>
              </a:rPr>
              <a:t>Тип работ: </a:t>
            </a:r>
            <a:r>
              <a:rPr sz="1400" b="1">
                <a:solidFill>
                  <a:srgbClr val="0F766E"/>
                </a:solidFill>
                <a:latin typeface="Calibri"/>
              </a:rPr>
              <a:t>Электрика · квартира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475569"/>
                </a:solidFill>
                <a:latin typeface="Calibri"/>
              </a:rPr>
              <a:t>Бюджет: </a:t>
            </a:r>
            <a:r>
              <a:rPr sz="1400" b="1">
                <a:solidFill>
                  <a:srgbClr val="0F766E"/>
                </a:solidFill>
                <a:latin typeface="Calibri"/>
              </a:rPr>
              <a:t>от 15 000 ₽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475569"/>
                </a:solidFill>
                <a:latin typeface="Calibri"/>
              </a:rPr>
              <a:t>Рейтинг: </a:t>
            </a:r>
            <a:r>
              <a:rPr sz="1400" b="1">
                <a:solidFill>
                  <a:srgbClr val="0F766E"/>
                </a:solidFill>
                <a:latin typeface="Calibri"/>
              </a:rPr>
              <a:t>⭐ клиент с отзывами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475569"/>
                </a:solidFill>
                <a:latin typeface="Calibri"/>
              </a:rPr>
              <a:t>Город: </a:t>
            </a:r>
            <a:r>
              <a:rPr sz="1400" b="0">
                <a:solidFill>
                  <a:srgbClr val="0F1C2E"/>
                </a:solidFill>
                <a:latin typeface="Calibri"/>
              </a:rPr>
              <a:t>Москва / МО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475569"/>
                </a:solidFill>
                <a:latin typeface="Calibri"/>
              </a:rPr>
              <a:t>Минус: </a:t>
            </a:r>
            <a:r>
              <a:rPr sz="1400" b="0">
                <a:solidFill>
                  <a:srgbClr val="0F1C2E"/>
                </a:solidFill>
                <a:latin typeface="Calibri"/>
              </a:rPr>
              <a:t>отсеян «дешёвый» мусор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Работаем без риска бана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Подстраховка аккаунта Profi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0F1C2E"/>
                </a:solidFill>
                <a:latin typeface="Calibri"/>
              </a:rPr>
              <a:t>Profi банит грубых парсеров. Поэтому: эмуляция человека, случайные паузы, отдельный контур на партнёра.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3566160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5661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🛡 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Базовая защита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Тариф «Мастер»</a:t>
            </a:r>
          </a:p>
          <a:p>
            <a:pPr algn="ctr">
              <a:spcBef>
                <a:spcPts val="10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Имитация живого пользователя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468880"/>
            <a:ext cx="3566160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468880"/>
            <a:ext cx="356616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🛡  Balanced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8328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Усиленный режим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Тариф «Команда»</a:t>
            </a:r>
          </a:p>
          <a:p>
            <a:pPr algn="ctr">
              <a:spcBef>
                <a:spcPts val="10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Имитация живого пользователя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68880"/>
            <a:ext cx="3566160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468880"/>
            <a:ext cx="3566160" cy="64008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🛡  Stealth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8328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Максимальная осторожность</a:t>
            </a:r>
          </a:p>
          <a:p>
            <a:pPr algn="ctr">
              <a:spcBef>
                <a:spcPts val="1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Тариф «Бизнес»</a:t>
            </a:r>
          </a:p>
          <a:p>
            <a:pPr algn="ctr">
              <a:spcBef>
                <a:spcPts val="10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Имитация живого пользователя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Что меняется после подключения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8016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37160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50876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25+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проверенных лидов в день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56032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697479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100–400 ₽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цена заявки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749039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88620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время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не скроллите ленту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937759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50749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конверсия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только платёжеспособные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Leads.Konversus vs другие способы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817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77870"/>
                <a:gridCol w="3077870"/>
                <a:gridCol w="3077870"/>
              </a:tblGrid>
              <a:tr h="841248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Обычный Profi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Контекстная реклама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Leads.Konversus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C2E"/>
                          </a:solidFill>
                          <a:latin typeface="Calibri"/>
                        </a:rPr>
                        <a:t>Заявок в день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Зависит от бюджета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20–25+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C2E"/>
                          </a:solidFill>
                          <a:latin typeface="Calibri"/>
                        </a:rPr>
                        <a:t>Фильтрация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Частичная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15+ параметров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C2E"/>
                          </a:solidFill>
                          <a:latin typeface="Calibri"/>
                        </a:rPr>
                        <a:t>Цена за заявку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«Бесплатно», но нет потока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500–1500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100–400 ₽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C2E"/>
                          </a:solidFill>
                          <a:latin typeface="Calibri"/>
                        </a:rPr>
                        <a:t>Риск бана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C2E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Минимальный (антидетект)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Выберите свой тариф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657600" cy="4023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291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Мастер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19 990 ₽/мес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2E8F0"/>
                </a:solidFill>
                <a:latin typeface="Calibri"/>
              </a:rPr>
              <a:t>Частники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До 5 фильтров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1 Telegram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Антидетект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657600" cy="4023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Команда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30 000 ₽/мес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2E8F0"/>
                </a:solidFill>
                <a:latin typeface="Calibri"/>
              </a:rPr>
              <a:t>Малые организации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До 10 фильтров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2 менеджера в TG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Антидетект Balanced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657600" cy="4023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657600" cy="12344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291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Бизнес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50 000 ₽/мес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2E8F0"/>
                </a:solidFill>
                <a:latin typeface="Calibri"/>
              </a:rPr>
              <a:t>Крупные организации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Фильтры без лимита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Любое число менеджеров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C2E"/>
                </a:solidFill>
                <a:latin typeface="Calibri"/>
              </a:rPr>
              <a:t>•  API + Stealth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532120"/>
            <a:ext cx="11430000" cy="6400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50992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Пробный период: 7 дней за 7 000 ₽  ·  без привязки к основному тарифу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 причин выбрать Leads.Konversus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3716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Полнота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Все заказы, не малая часть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13716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Точность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Фильтры под ваш бизнес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65760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13716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737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Скорость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Telegram — вы первые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57600"/>
            <a:ext cx="365760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13716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Экономия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100–400 ₽ vs 500–1500 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65760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657600"/>
            <a:ext cx="13716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023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Безопасность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Аккаунт Profi под защитой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657600"/>
            <a:ext cx="365760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657600"/>
            <a:ext cx="13716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023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Простота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475569"/>
                </a:solidFill>
                <a:latin typeface="Calibri"/>
              </a:rPr>
              <a:t>Мы настраиваем за вас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leads.konversus.ru  ·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Начните получать 25+ квалифицированных
заявок уже сегодня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Пробная неделя за 7 000 ₽ — убедитесь, что заявки есть и они качественные.</a:t>
            </a:r>
          </a:p>
          <a:p>
            <a:pPr algn="ctr">
              <a:spcBef>
                <a:spcPts val="1200"/>
              </a:spcBef>
            </a:pPr>
            <a:r>
              <a:rPr sz="1600" b="0">
                <a:solidFill>
                  <a:srgbClr val="0D9488"/>
                </a:solidFill>
                <a:latin typeface="Calibri"/>
              </a:rPr>
              <a:t>Сайт: leads.konversus.ru  ·  напишите нам в 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572000"/>
            <a:ext cx="4480560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475488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Попробовать неделю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Остались вопросы? Мы на связи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Calibri"/>
              </a:rPr>
              <a:t>◈  Leads.Konversus</a:t>
            </a:r>
          </a:p>
          <a:p>
            <a:pPr algn="ctr">
              <a:spcBef>
                <a:spcPts val="16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Сайт:  leads.konversus.ru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CBD5E1"/>
                </a:solidFill>
                <a:latin typeface="Calibri"/>
              </a:rPr>
              <a:t>Telegram:  напишите менеджеру / боту сервиса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Спасибо за внимание  ·  Zoom-презентация для партнёров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